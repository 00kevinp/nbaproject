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81" r:id="rId19"/>
    <p:sldId id="282" r:id="rId20"/>
    <p:sldId id="286" r:id="rId21"/>
    <p:sldId id="287" r:id="rId22"/>
    <p:sldId id="274" r:id="rId23"/>
    <p:sldId id="293" r:id="rId24"/>
    <p:sldId id="284" r:id="rId25"/>
    <p:sldId id="294" r:id="rId26"/>
    <p:sldId id="295" r:id="rId27"/>
    <p:sldId id="289" r:id="rId28"/>
    <p:sldId id="291" r:id="rId29"/>
    <p:sldId id="292" r:id="rId30"/>
    <p:sldId id="290" r:id="rId31"/>
    <p:sldId id="296" r:id="rId32"/>
    <p:sldId id="285" r:id="rId33"/>
    <p:sldId id="275" r:id="rId34"/>
    <p:sldId id="276" r:id="rId35"/>
    <p:sldId id="277" r:id="rId36"/>
    <p:sldId id="266" r:id="rId37"/>
    <p:sldId id="278" r:id="rId38"/>
    <p:sldId id="279" r:id="rId39"/>
    <p:sldId id="280" r:id="rId4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41"/>
    <p:restoredTop sz="94685"/>
  </p:normalViewPr>
  <p:slideViewPr>
    <p:cSldViewPr snapToGrid="0">
      <p:cViewPr varScale="1">
        <p:scale>
          <a:sx n="56" d="100"/>
          <a:sy n="56" d="100"/>
        </p:scale>
        <p:origin x="72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969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D8FB3-88AE-883C-DE9B-DBFF610EF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B3868-1C3D-94E3-F6BA-7A5481E64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FA7B1-5192-132C-B45A-3B9F93296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– measured by taking true positives / true positives + false positives</a:t>
            </a:r>
          </a:p>
          <a:p>
            <a:r>
              <a:rPr lang="en-US" dirty="0"/>
              <a:t>Precision – measured by taking true positives / true positives + true negatives</a:t>
            </a:r>
          </a:p>
          <a:p>
            <a:r>
              <a:rPr lang="en-US" dirty="0"/>
              <a:t>F1 – recall * precision / recall + precision</a:t>
            </a:r>
          </a:p>
        </p:txBody>
      </p:sp>
    </p:spTree>
    <p:extLst>
      <p:ext uri="{BB962C8B-B14F-4D97-AF65-F5344CB8AC3E}">
        <p14:creationId xmlns:p14="http://schemas.microsoft.com/office/powerpoint/2010/main" val="1604828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lack and white photo of light and shadows on a building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Black and white photo of shadows cast on a concrete structure"/>
          <p:cNvSpPr>
            <a:spLocks noGrp="1"/>
          </p:cNvSpPr>
          <p:nvPr>
            <p:ph type="pic" idx="21"/>
          </p:nvPr>
        </p:nvSpPr>
        <p:spPr>
          <a:xfrm>
            <a:off x="9270652" y="1263650"/>
            <a:ext cx="16757661" cy="1118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3" name="Close-up black and white photo of intricate building architecture"/>
          <p:cNvSpPr>
            <a:spLocks noGrp="1"/>
          </p:cNvSpPr>
          <p:nvPr>
            <p:ph type="pic" idx="22"/>
          </p:nvPr>
        </p:nvSpPr>
        <p:spPr>
          <a:xfrm>
            <a:off x="12192000" y="-1341967"/>
            <a:ext cx="10922000" cy="16399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Low angle black and white photo of a futuristic apartment building under a cloudy sky"/>
          <p:cNvSpPr>
            <a:spLocks noGrp="1"/>
          </p:cNvSpPr>
          <p:nvPr>
            <p:ph type="pic" idx="21"/>
          </p:nvPr>
        </p:nvSpPr>
        <p:spPr>
          <a:xfrm>
            <a:off x="-120802" y="1270000"/>
            <a:ext cx="16840201" cy="1122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Black and white photo of the outside of a modern office building "/>
          <p:cNvSpPr>
            <a:spLocks noGrp="1"/>
          </p:cNvSpPr>
          <p:nvPr>
            <p:ph type="pic" sz="quarter" idx="22"/>
          </p:nvPr>
        </p:nvSpPr>
        <p:spPr>
          <a:xfrm>
            <a:off x="15443200" y="1270000"/>
            <a:ext cx="81026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Black and white photo of lattice-like, modern architecture on a building"/>
          <p:cNvSpPr>
            <a:spLocks noGrp="1"/>
          </p:cNvSpPr>
          <p:nvPr>
            <p:ph type="pic" sz="half" idx="23"/>
          </p:nvPr>
        </p:nvSpPr>
        <p:spPr>
          <a:xfrm>
            <a:off x="15811500" y="4876800"/>
            <a:ext cx="7366000" cy="982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ow angle black and white photo of a modern building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Kevin Pickelman, Dr. Armstrong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r>
              <a:t>Kevin Pickelman, Dr. Armstrong</a:t>
            </a:r>
          </a:p>
        </p:txBody>
      </p:sp>
      <p:sp>
        <p:nvSpPr>
          <p:cNvPr id="152" name="Predicting NBA Game Outcome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Predicting NBA Game Outcomes</a:t>
            </a:r>
          </a:p>
        </p:txBody>
      </p:sp>
      <p:sp>
        <p:nvSpPr>
          <p:cNvPr id="153" name="Exploring Different Supervised ML Algorithms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Exploring Supervised M</a:t>
            </a:r>
            <a:r>
              <a:rPr lang="en-US" dirty="0"/>
              <a:t>achine Learning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roblem Descrip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Problem Description</a:t>
            </a:r>
          </a:p>
        </p:txBody>
      </p:sp>
      <p:sp>
        <p:nvSpPr>
          <p:cNvPr id="156" name="Can NBA games be correctly predicted using supervised machine learning trained on historical team data?"/>
          <p:cNvSpPr txBox="1">
            <a:spLocks noGrp="1"/>
          </p:cNvSpPr>
          <p:nvPr>
            <p:ph type="body" idx="1"/>
          </p:nvPr>
        </p:nvSpPr>
        <p:spPr>
          <a:xfrm>
            <a:off x="1206500" y="3181470"/>
            <a:ext cx="21971000" cy="825601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Can NBA games be correctly predicted using supervised machine learning trained on historical team data? </a:t>
            </a:r>
          </a:p>
          <a:p>
            <a:pPr marL="0" indent="0">
              <a:buSzTx/>
              <a:buNone/>
            </a:pPr>
            <a:endParaRPr/>
          </a:p>
        </p:txBody>
      </p:sp>
      <p:sp>
        <p:nvSpPr>
          <p:cNvPr id="15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opics to Discu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Topics to Discuss</a:t>
            </a:r>
          </a:p>
        </p:txBody>
      </p:sp>
      <p:sp>
        <p:nvSpPr>
          <p:cNvPr id="160" name="NBA Statistics: overview of the statistics used…"/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/>
          <a:lstStyle/>
          <a:p>
            <a:r>
              <a:rPr b="1" dirty="0"/>
              <a:t>NBA Statistics</a:t>
            </a:r>
            <a:endParaRPr dirty="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r>
              <a:rPr b="1" dirty="0"/>
              <a:t>Data Acquisition</a:t>
            </a:r>
            <a:endParaRPr dirty="0">
              <a:latin typeface="Helvetica Neue Thin"/>
              <a:ea typeface="Helvetica Neue Thin"/>
              <a:cs typeface="Helvetica Neue Thin"/>
              <a:sym typeface="Helvetica Neue Thin"/>
            </a:endParaRPr>
          </a:p>
          <a:p>
            <a:r>
              <a:rPr b="1" dirty="0"/>
              <a:t>Supervised ML</a:t>
            </a:r>
            <a:endParaRPr lang="en-US" b="1" dirty="0"/>
          </a:p>
          <a:p>
            <a:r>
              <a:rPr lang="en-US" b="1" dirty="0"/>
              <a:t>Random Forest Classifier</a:t>
            </a:r>
            <a:endParaRPr dirty="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r>
              <a:rPr lang="en-US" b="1" dirty="0"/>
              <a:t>Features Used</a:t>
            </a:r>
          </a:p>
          <a:p>
            <a:r>
              <a:rPr lang="en-US" b="1" dirty="0"/>
              <a:t>Hyperparameter Tuning</a:t>
            </a:r>
          </a:p>
          <a:p>
            <a:r>
              <a:rPr lang="en-US" b="1" dirty="0"/>
              <a:t>Results &amp; Analysis – Post &amp; Pre Game Statistics</a:t>
            </a:r>
          </a:p>
          <a:p>
            <a:pPr marL="0" indent="0">
              <a:buNone/>
            </a:pPr>
            <a:endParaRPr dirty="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6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NBA Statistics — Feature Sele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NBA Statistics — Feature Selection</a:t>
            </a:r>
          </a:p>
        </p:txBody>
      </p:sp>
      <p:sp>
        <p:nvSpPr>
          <p:cNvPr id="164" name="Overview of The Statistics Used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/>
              <a:t>Overview of The Statistics Used</a:t>
            </a:r>
          </a:p>
        </p:txBody>
      </p:sp>
      <p:sp>
        <p:nvSpPr>
          <p:cNvPr id="165" name="Focusing on team data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/>
              <a:t>Focusing on team data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b="1" dirty="0"/>
              <a:t>Points Per Game (PPG)</a:t>
            </a:r>
            <a:r>
              <a:rPr dirty="0"/>
              <a:t> — average points scored over n games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b="1" dirty="0"/>
              <a:t>Win % (PCT)</a:t>
            </a:r>
            <a:r>
              <a:rPr dirty="0"/>
              <a:t> — wins / total games played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b="1" dirty="0"/>
              <a:t>Effective Field Goal % (</a:t>
            </a:r>
            <a:r>
              <a:rPr b="1" dirty="0" err="1"/>
              <a:t>eFG</a:t>
            </a:r>
            <a:r>
              <a:rPr b="1" dirty="0"/>
              <a:t>)</a:t>
            </a:r>
            <a:r>
              <a:rPr dirty="0"/>
              <a:t> — metric to measure shooting efficiency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lang="en-US" b="1" dirty="0"/>
              <a:t>Player Impact Estimate</a:t>
            </a:r>
            <a:r>
              <a:rPr b="1" dirty="0"/>
              <a:t> Rating</a:t>
            </a:r>
            <a:r>
              <a:rPr lang="en-US" b="1" dirty="0"/>
              <a:t> (PIE)</a:t>
            </a:r>
            <a:r>
              <a:rPr dirty="0"/>
              <a:t> — advanced formula to measure a team’s performance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b="1" dirty="0"/>
              <a:t>Defensive Rating (DRTG)</a:t>
            </a:r>
            <a:r>
              <a:rPr dirty="0"/>
              <a:t> — number of points allowed per 100 possessions</a:t>
            </a:r>
          </a:p>
          <a:p>
            <a:pPr marL="524255" indent="-524255" defTabSz="2096971">
              <a:spcBef>
                <a:spcPts val="3800"/>
              </a:spcBef>
              <a:defRPr sz="4128" b="1"/>
            </a:pPr>
            <a:r>
              <a:rPr dirty="0"/>
              <a:t>Offensive Rating (ORTG) </a:t>
            </a:r>
            <a:r>
              <a:rPr b="0" dirty="0"/>
              <a:t>— measures a team's points scored per 100 possessions</a:t>
            </a:r>
          </a:p>
          <a:p>
            <a:pPr marL="524255" indent="-524255" defTabSz="2096971">
              <a:spcBef>
                <a:spcPts val="3800"/>
              </a:spcBef>
              <a:defRPr sz="4128" b="1"/>
            </a:pPr>
            <a:r>
              <a:rPr dirty="0"/>
              <a:t>Net Rating (NRTG) </a:t>
            </a:r>
            <a:r>
              <a:rPr b="0" dirty="0"/>
              <a:t>— measures a team's point differential per 100 possessions</a:t>
            </a:r>
          </a:p>
        </p:txBody>
      </p:sp>
      <p:sp>
        <p:nvSpPr>
          <p:cNvPr id="166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NBA Statistics — Feature Sele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NBA Statistics — Feature Selection</a:t>
            </a:r>
          </a:p>
        </p:txBody>
      </p:sp>
      <p:sp>
        <p:nvSpPr>
          <p:cNvPr id="169" name="How Are They Measured?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How Are They Measured?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eFG%: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445007" indent="-445007" defTabSz="1779987">
                  <a:spcBef>
                    <a:spcPts val="3200"/>
                  </a:spcBef>
                  <a:defRPr sz="3139"/>
                </a:pPr>
                <a:r>
                  <a:rPr b="1"/>
                  <a:t>eFG%</a:t>
                </a:r>
                <a:r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7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7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𝐹𝐺𝑀</m:t>
                        </m:r>
                        <m:r>
                          <a:rPr sz="37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+(0.5</m:t>
                        </m:r>
                        <m:r>
                          <a:rPr sz="37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37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sz="37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𝑃𝑀</m:t>
                        </m:r>
                        <m:r>
                          <a:rPr sz="37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sz="37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𝐹𝐺𝐴</m:t>
                        </m:r>
                      </m:den>
                    </m:f>
                  </m:oMath>
                </a14:m>
                <a:endParaRPr/>
              </a:p>
              <a:p>
                <a:pPr marL="445007" indent="-445007" defTabSz="1779987">
                  <a:spcBef>
                    <a:spcPts val="3200"/>
                  </a:spcBef>
                  <a:defRPr sz="3139"/>
                </a:pPr>
                <a:endParaRPr/>
              </a:p>
              <a:p>
                <a:pPr marL="445007" indent="-445007" defTabSz="1779987">
                  <a:spcBef>
                    <a:spcPts val="3200"/>
                  </a:spcBef>
                  <a:defRPr sz="3139"/>
                </a:pPr>
                <a:r>
                  <a:rPr b="1"/>
                  <a:t>PIE Rating</a:t>
                </a:r>
                <a:r>
                  <a:t>: </a:t>
                </a:r>
              </a:p>
              <a:p>
                <a:pPr marL="445007" indent="-445007" defTabSz="1779987">
                  <a:spcBef>
                    <a:spcPts val="3200"/>
                  </a:spcBef>
                  <a:defRPr sz="3139"/>
                </a:pPr>
                <a:endParaRPr/>
              </a:p>
              <a:p>
                <a:pPr marL="445007" indent="-445007" defTabSz="1779987">
                  <a:spcBef>
                    <a:spcPts val="3200"/>
                  </a:spcBef>
                  <a:defRPr sz="3139" b="1"/>
                </a:pPr>
                <a:endParaRPr/>
              </a:p>
              <a:p>
                <a:pPr marL="445007" indent="-445007" defTabSz="1779987">
                  <a:spcBef>
                    <a:spcPts val="3200"/>
                  </a:spcBef>
                  <a:defRPr sz="3139" b="1"/>
                </a:pPr>
                <a:r>
                  <a:t>ORTG</a:t>
                </a:r>
                <a:r>
                  <a:rPr b="0"/>
                  <a:t>: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sz="3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𝑃𝑜𝑖𝑛𝑡𝑠𝑆𝑐𝑜𝑟𝑒𝑑</m:t>
                        </m:r>
                      </m:num>
                      <m:den>
                        <m:r>
                          <a:rPr sz="3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𝑃𝑜𝑠𝑠𝑒𝑠𝑠𝑖𝑜𝑛𝑠</m:t>
                        </m:r>
                      </m:den>
                    </m:f>
                    <m:r>
                      <a:rPr sz="3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b="0"/>
              </a:p>
              <a:p>
                <a:pPr marL="445007" indent="-445007" defTabSz="1779987">
                  <a:spcBef>
                    <a:spcPts val="3200"/>
                  </a:spcBef>
                  <a:defRPr sz="3139" b="1"/>
                </a:pPr>
                <a:endParaRPr b="0"/>
              </a:p>
              <a:p>
                <a:pPr marL="445007" indent="-445007" defTabSz="1779987">
                  <a:spcBef>
                    <a:spcPts val="3200"/>
                  </a:spcBef>
                  <a:defRPr sz="3139" b="1"/>
                </a:pPr>
                <a:r>
                  <a:t>DRTG</a:t>
                </a:r>
                <a:r>
                  <a:rPr b="0"/>
                  <a:t>: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sz="3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𝑃𝑜𝑖𝑛𝑡𝑠𝐴𝑙𝑙𝑜𝑤𝑒𝑑</m:t>
                        </m:r>
                      </m:num>
                      <m:den>
                        <m:r>
                          <a:rPr sz="3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𝑃𝑜𝑠𝑠𝑒𝑠𝑠𝑖𝑜𝑛𝑠</m:t>
                        </m:r>
                      </m:den>
                    </m:f>
                    <m:r>
                      <a:rPr sz="3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sz="4300"/>
              </a:p>
            </p:txBody>
          </p:sp>
        </mc:Choice>
        <mc:Fallback xmlns="">
          <p:sp>
            <p:nvSpPr>
              <p:cNvPr id="170" name="eFG%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1098" t="-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72" name="(PTS + FGM + FTM – FGA – FTA + Deff.REB + Off.REB/2 + AST + STL + BLK/2 – PF – TO) /…"/>
          <p:cNvSpPr txBox="1"/>
          <p:nvPr/>
        </p:nvSpPr>
        <p:spPr>
          <a:xfrm>
            <a:off x="4089400" y="5980399"/>
            <a:ext cx="17878033" cy="1755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10000"/>
              </a:lnSpc>
              <a:spcBef>
                <a:spcPts val="4500"/>
              </a:spcBef>
              <a:defRPr sz="2700"/>
            </a:pPr>
            <a:r>
              <a:t>(PTS + FGM + FTM – FGA – FTA + Deff.REB + Off.REB/2 + AST + STL + BLK/2 – PF – TO) /</a:t>
            </a:r>
          </a:p>
          <a:p>
            <a:pPr algn="l">
              <a:lnSpc>
                <a:spcPct val="10000"/>
              </a:lnSpc>
              <a:spcBef>
                <a:spcPts val="4500"/>
              </a:spcBef>
              <a:defRPr sz="2700"/>
            </a:pPr>
            <a:r>
              <a:t> (Game.PTS + Game.FGM + Game.FTM – Game.FGA – Game.FTA + </a:t>
            </a:r>
          </a:p>
          <a:p>
            <a:pPr algn="l">
              <a:lnSpc>
                <a:spcPct val="10000"/>
              </a:lnSpc>
              <a:spcBef>
                <a:spcPts val="4500"/>
              </a:spcBef>
              <a:defRPr sz="2700"/>
            </a:pPr>
            <a:r>
              <a:t>Game.Deff.REB + Game.Off.REB/2 + Game.AST + Game.STL + Game.BLK/2 – Game.PF – Game.TO)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NBA Statistics — Feature Sele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NBA Statistics — Feature Selection</a:t>
            </a:r>
          </a:p>
        </p:txBody>
      </p:sp>
      <p:sp>
        <p:nvSpPr>
          <p:cNvPr id="175" name="Continued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/>
              <a:t>Continued</a:t>
            </a:r>
          </a:p>
        </p:txBody>
      </p:sp>
      <p:sp>
        <p:nvSpPr>
          <p:cNvPr id="176" name="In addition to the statistics previously noted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 addition to the statistics previously noted:</a:t>
            </a:r>
          </a:p>
          <a:p>
            <a:pPr lvl="2"/>
            <a:r>
              <a:rPr lang="en-US" dirty="0"/>
              <a:t>Cumulative win percentage</a:t>
            </a:r>
            <a:endParaRPr dirty="0"/>
          </a:p>
          <a:p>
            <a:pPr lvl="2"/>
            <a:r>
              <a:rPr dirty="0"/>
              <a:t>Rebounds</a:t>
            </a:r>
          </a:p>
          <a:p>
            <a:pPr lvl="2"/>
            <a:r>
              <a:rPr dirty="0"/>
              <a:t>Turnovers / TOV%</a:t>
            </a:r>
          </a:p>
          <a:p>
            <a:pPr lvl="2"/>
            <a:r>
              <a:rPr dirty="0"/>
              <a:t>Possibility of adding removing features throughout the process</a:t>
            </a:r>
          </a:p>
        </p:txBody>
      </p:sp>
      <p:sp>
        <p:nvSpPr>
          <p:cNvPr id="17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upervised Machine Lear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Supervised Machine Learning</a:t>
            </a:r>
          </a:p>
        </p:txBody>
      </p:sp>
      <p:sp>
        <p:nvSpPr>
          <p:cNvPr id="180" name="What is i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What is it</a:t>
            </a:r>
          </a:p>
        </p:txBody>
      </p:sp>
      <p:sp>
        <p:nvSpPr>
          <p:cNvPr id="181" name="Supervised means that the ML model can be trained &amp; can “learn”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Supervised means that the ML model can be trained &amp; can “learn”</a:t>
            </a:r>
          </a:p>
          <a:p>
            <a:r>
              <a:t>Model learns by being given human-labeled data, e.g. a picture of a cat labeled “cat” — this is the training data</a:t>
            </a:r>
          </a:p>
          <a:p>
            <a:r>
              <a:t>The input is the picture, output is the label</a:t>
            </a:r>
          </a:p>
          <a:p>
            <a:r>
              <a:t>The goal is that after training, the model can predict the label for unseen input</a:t>
            </a:r>
          </a:p>
          <a:p>
            <a:r>
              <a:t>Predicting win / loss is a binary classification problem</a:t>
            </a:r>
          </a:p>
        </p:txBody>
      </p:sp>
      <p:sp>
        <p:nvSpPr>
          <p:cNvPr id="182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Algorith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Algorithms</a:t>
            </a:r>
          </a:p>
        </p:txBody>
      </p:sp>
      <p:sp>
        <p:nvSpPr>
          <p:cNvPr id="185" name="Which Algorithms Will Be Utilized?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Which Algorithms Will Be Utilized?</a:t>
            </a:r>
          </a:p>
        </p:txBody>
      </p:sp>
      <p:sp>
        <p:nvSpPr>
          <p:cNvPr id="186" name="Random Fores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Random Forest</a:t>
            </a:r>
            <a:r>
              <a:rPr lang="en-US" dirty="0"/>
              <a:t> Classifier</a:t>
            </a:r>
            <a:endParaRPr dirty="0"/>
          </a:p>
        </p:txBody>
      </p:sp>
      <p:sp>
        <p:nvSpPr>
          <p:cNvPr id="18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andom Forest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Random Forest Classifier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Ensemble method, made up of decision trees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06500" y="3193037"/>
                <a:ext cx="21971000" cy="8256012"/>
              </a:xfrm>
              <a:prstGeom prst="rect">
                <a:avLst/>
              </a:prstGeom>
            </p:spPr>
            <p:txBody>
              <a:bodyPr/>
              <a:lstStyle/>
              <a:p>
                <a:pPr marL="554736" indent="-554736" defTabSz="2218888">
                  <a:spcBef>
                    <a:spcPts val="4000"/>
                  </a:spcBef>
                  <a:defRPr sz="4368"/>
                </a:pPr>
                <a:r>
                  <a:rPr dirty="0"/>
                  <a:t>Ensemble method, made up of decision trees</a:t>
                </a:r>
              </a:p>
              <a:p>
                <a:pPr marL="554736" indent="-554736" defTabSz="2218888">
                  <a:spcBef>
                    <a:spcPts val="4000"/>
                  </a:spcBef>
                  <a:defRPr sz="4368"/>
                </a:pPr>
                <a:r>
                  <a:rPr dirty="0"/>
                  <a:t>Each decision tree is trained on a samples from random subset of the feature data (w/ replacement), this is Bootstrap Sampling</a:t>
                </a:r>
              </a:p>
              <a:p>
                <a:pPr marL="554736" indent="-554736" defTabSz="2218888">
                  <a:spcBef>
                    <a:spcPts val="4000"/>
                  </a:spcBef>
                  <a:defRPr sz="4368"/>
                </a:pPr>
                <a:r>
                  <a:rPr dirty="0"/>
                  <a:t>Roughly 37% of samples will not be chosen </a:t>
                </a:r>
                <a14:m>
                  <m:oMath xmlns:m="http://schemas.openxmlformats.org/officeDocument/2006/math">
                    <m:r>
                      <a:rPr sz="5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(1−1/</m:t>
                    </m:r>
                    <m:r>
                      <a:rPr sz="5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sz="53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3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53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dirty="0"/>
                  <a:t> where n is num of samples — OOB (out-of-bag) samples</a:t>
                </a:r>
              </a:p>
              <a:p>
                <a:pPr marL="554736" indent="-554736" defTabSz="2218888">
                  <a:spcBef>
                    <a:spcPts val="4000"/>
                  </a:spcBef>
                  <a:defRPr sz="4368"/>
                </a:pPr>
                <a:r>
                  <a:rPr dirty="0"/>
                  <a:t>Calculate parent node impurity </a:t>
                </a:r>
              </a:p>
              <a:p>
                <a:pPr marL="554736" indent="-554736" defTabSz="2218888">
                  <a:spcBef>
                    <a:spcPts val="4000"/>
                  </a:spcBef>
                  <a:defRPr sz="4368"/>
                </a:pPr>
                <a:r>
                  <a:rPr dirty="0"/>
                  <a:t>Node impurity is measured before splitting (making a decision), Gini Impurity is used</a:t>
                </a:r>
              </a:p>
              <a:p>
                <a:pPr marL="554736" indent="-554736" defTabSz="2218888">
                  <a:spcBef>
                    <a:spcPts val="4000"/>
                  </a:spcBef>
                  <a:defRPr sz="4368"/>
                </a:pPr>
                <a:r>
                  <a:rPr dirty="0"/>
                  <a:t>Gini impurity measures the probability a feature is classified incorrectly, 0 is pure (good), 1 is impure (bad)</a:t>
                </a:r>
              </a:p>
            </p:txBody>
          </p:sp>
        </mc:Choice>
        <mc:Fallback>
          <p:sp>
            <p:nvSpPr>
              <p:cNvPr id="190" name="Ensemble method, made up of decision tree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06500" y="3193037"/>
                <a:ext cx="21971000" cy="8256012"/>
              </a:xfrm>
              <a:prstGeom prst="rect">
                <a:avLst/>
              </a:prstGeom>
              <a:blipFill>
                <a:blip r:embed="rId3"/>
                <a:stretch>
                  <a:fillRect l="-1618" t="-3840" r="-1792" b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andom Forest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Random Forest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Randomly select subset of features ( num of features), if 15 features, randomly select   of them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06500" y="3193037"/>
                <a:ext cx="21971000" cy="8256012"/>
              </a:xfrm>
              <a:prstGeom prst="rect">
                <a:avLst/>
              </a:prstGeom>
            </p:spPr>
            <p:txBody>
              <a:bodyPr/>
              <a:lstStyle/>
              <a:p>
                <a:pPr marL="560831" indent="-560831" defTabSz="2243271">
                  <a:spcBef>
                    <a:spcPts val="4100"/>
                  </a:spcBef>
                  <a:defRPr sz="4416"/>
                </a:pPr>
                <a:r>
                  <a:rPr dirty="0"/>
                  <a:t>Randomly select subset of features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sz="53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/>
                    </m:rad>
                  </m:oMath>
                </a14:m>
                <a:r>
                  <a:rPr dirty="0"/>
                  <a:t>num of features), if 15 features, randomly select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sz="55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55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sz="55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dirty="0"/>
                  <a:t> of them</a:t>
                </a:r>
              </a:p>
              <a:p>
                <a:pPr marL="560831" indent="-560831" defTabSz="2243271">
                  <a:spcBef>
                    <a:spcPts val="4100"/>
                  </a:spcBef>
                  <a:defRPr sz="4416"/>
                </a:pPr>
                <a:r>
                  <a:rPr dirty="0"/>
                  <a:t>Sort feature values &amp; identify split points by finding midpoints between unique values</a:t>
                </a:r>
              </a:p>
              <a:p>
                <a:pPr marL="560831" indent="-560831" defTabSz="2243271">
                  <a:spcBef>
                    <a:spcPts val="4100"/>
                  </a:spcBef>
                  <a:defRPr sz="4416"/>
                </a:pPr>
                <a:r>
                  <a:rPr dirty="0"/>
                  <a:t>For each potential split point — we will calculate total Gini impurity, split on highest impurity reduction (gain) — lowest Gini value</a:t>
                </a:r>
              </a:p>
              <a:p>
                <a:pPr marL="560831" indent="-560831" defTabSz="2243271">
                  <a:spcBef>
                    <a:spcPts val="4100"/>
                  </a:spcBef>
                  <a:defRPr sz="4416"/>
                </a:pPr>
                <a:r>
                  <a:rPr dirty="0"/>
                  <a:t>After n rounds — a majority vote amongst the trees is casted</a:t>
                </a:r>
              </a:p>
              <a:p>
                <a:pPr marL="560831" indent="-560831" defTabSz="2243271">
                  <a:spcBef>
                    <a:spcPts val="4100"/>
                  </a:spcBef>
                  <a:defRPr sz="4416"/>
                </a:pPr>
                <a:r>
                  <a:rPr dirty="0"/>
                  <a:t>The result that appears the most is chosen</a:t>
                </a:r>
              </a:p>
            </p:txBody>
          </p:sp>
        </mc:Choice>
        <mc:Fallback xmlns="">
          <p:sp>
            <p:nvSpPr>
              <p:cNvPr id="194" name="Randomly select subset of features ( num of features), if 15 features, randomly select   of them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06500" y="3193037"/>
                <a:ext cx="21971000" cy="8256012"/>
              </a:xfrm>
              <a:prstGeom prst="rect">
                <a:avLst/>
              </a:prstGeom>
              <a:blipFill>
                <a:blip r:embed="rId3"/>
                <a:stretch>
                  <a:fillRect l="-1618" t="-1536" r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andom Forest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Random Forest Classifier</a:t>
            </a:r>
          </a:p>
        </p:txBody>
      </p:sp>
      <p:sp>
        <p:nvSpPr>
          <p:cNvPr id="203" name="Parameter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Parameters</a:t>
            </a:r>
          </a:p>
        </p:txBody>
      </p:sp>
      <p:sp>
        <p:nvSpPr>
          <p:cNvPr id="204" name="n_estimators: controls the rounds of Bootstrap Sampling (int, default = 100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Courier New"/>
                <a:ea typeface="Courier New"/>
                <a:cs typeface="Courier New"/>
                <a:sym typeface="Courier New"/>
              </a:rPr>
              <a:t>n_estimators</a:t>
            </a:r>
            <a:r>
              <a:rPr dirty="0"/>
              <a:t>: controls the </a:t>
            </a:r>
            <a:r>
              <a:rPr lang="en-US" dirty="0"/>
              <a:t>number of decision trees built in the random forest</a:t>
            </a:r>
            <a:endParaRPr dirty="0"/>
          </a:p>
          <a:p>
            <a:r>
              <a:rPr dirty="0" err="1">
                <a:latin typeface="Courier New"/>
                <a:ea typeface="Courier New"/>
                <a:cs typeface="Courier New"/>
                <a:sym typeface="Courier New"/>
              </a:rPr>
              <a:t>oob_score</a:t>
            </a:r>
            <a:r>
              <a:rPr dirty="0"/>
              <a:t>: out-of-bag sample validation (</a:t>
            </a:r>
            <a:r>
              <a:rPr dirty="0" err="1"/>
              <a:t>boolean</a:t>
            </a:r>
            <a:r>
              <a:rPr dirty="0"/>
              <a:t>)</a:t>
            </a:r>
          </a:p>
          <a:p>
            <a:r>
              <a:rPr dirty="0">
                <a:latin typeface="Courier New"/>
                <a:ea typeface="Courier New"/>
                <a:cs typeface="Courier New"/>
                <a:sym typeface="Courier New"/>
              </a:rPr>
              <a:t>bootstrap</a:t>
            </a:r>
            <a:r>
              <a:rPr dirty="0"/>
              <a:t>: decides whether each tree learns from a random sample or all the data — true for random, false for al</a:t>
            </a:r>
            <a:r>
              <a:rPr lang="en-US" dirty="0"/>
              <a:t>l</a:t>
            </a:r>
            <a:endParaRPr dirty="0"/>
          </a:p>
          <a:p>
            <a:r>
              <a:rPr dirty="0" err="1">
                <a:latin typeface="Courier New"/>
                <a:ea typeface="Courier New"/>
                <a:cs typeface="Courier New"/>
                <a:sym typeface="Courier New"/>
              </a:rPr>
              <a:t>n_jobs</a:t>
            </a:r>
            <a:r>
              <a:rPr dirty="0"/>
              <a:t>: controls number of processor cores to use during training, -1 sets to all available cores.</a:t>
            </a:r>
          </a:p>
        </p:txBody>
      </p:sp>
      <p:sp>
        <p:nvSpPr>
          <p:cNvPr id="205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rimary Objectiv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Primary Objective</a:t>
            </a:r>
          </a:p>
        </p:txBody>
      </p:sp>
      <p:sp>
        <p:nvSpPr>
          <p:cNvPr id="208" name="Can supervised machine learning algorithms trained on historical team data predict game outcomes better than 60% of the time?…"/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/>
          <a:lstStyle/>
          <a:p>
            <a:r>
              <a:rPr dirty="0"/>
              <a:t> Can supervised machine learning algorithms trained on historical team data predict game outcomes better than 60% of the time?</a:t>
            </a:r>
          </a:p>
          <a:p>
            <a:r>
              <a:rPr dirty="0"/>
              <a:t> Limitations: 3-person weeks over one semester (120 hours, 14 weeks)</a:t>
            </a:r>
          </a:p>
        </p:txBody>
      </p:sp>
      <p:sp>
        <p:nvSpPr>
          <p:cNvPr id="209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Experiment Block Design"/>
          <p:cNvSpPr txBox="1">
            <a:spLocks noGrp="1"/>
          </p:cNvSpPr>
          <p:nvPr>
            <p:ph type="title"/>
          </p:nvPr>
        </p:nvSpPr>
        <p:spPr>
          <a:xfrm>
            <a:off x="336911" y="-3442573"/>
            <a:ext cx="14476369" cy="588227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Experiment Block Design </a:t>
            </a:r>
          </a:p>
        </p:txBody>
      </p:sp>
      <p:sp>
        <p:nvSpPr>
          <p:cNvPr id="212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pic>
        <p:nvPicPr>
          <p:cNvPr id="6" name="Picture 5" descr="A number of trees with numbers and a number of numbers&#10;&#10;AI-generated content may be incorrect.">
            <a:extLst>
              <a:ext uri="{FF2B5EF4-FFF2-40B4-BE49-F238E27FC236}">
                <a16:creationId xmlns:a16="http://schemas.microsoft.com/office/drawing/2014/main" id="{FA409018-828D-93A6-9AE5-44D725B3B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249" y="3063240"/>
            <a:ext cx="18667501" cy="90436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Experiment Desig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Experiment Design</a:t>
            </a:r>
          </a:p>
        </p:txBody>
      </p:sp>
      <p:sp>
        <p:nvSpPr>
          <p:cNvPr id="216" name="Gather, clean, and label data…"/>
          <p:cNvSpPr txBox="1">
            <a:spLocks noGrp="1"/>
          </p:cNvSpPr>
          <p:nvPr>
            <p:ph type="body" idx="1"/>
          </p:nvPr>
        </p:nvSpPr>
        <p:spPr>
          <a:xfrm>
            <a:off x="1206500" y="3173571"/>
            <a:ext cx="21971000" cy="8256012"/>
          </a:xfrm>
          <a:prstGeom prst="rect">
            <a:avLst/>
          </a:prstGeom>
        </p:spPr>
        <p:txBody>
          <a:bodyPr/>
          <a:lstStyle/>
          <a:p>
            <a:r>
              <a:rPr dirty="0"/>
              <a:t>Gather, clean, and label data</a:t>
            </a:r>
          </a:p>
          <a:p>
            <a:r>
              <a:rPr dirty="0"/>
              <a:t>Split between testing and training data using cross validation</a:t>
            </a:r>
          </a:p>
          <a:p>
            <a:r>
              <a:rPr dirty="0"/>
              <a:t>Build up random forest</a:t>
            </a:r>
          </a:p>
          <a:p>
            <a:r>
              <a:rPr dirty="0"/>
              <a:t>Check results using </a:t>
            </a:r>
            <a:r>
              <a:rPr lang="en-US" dirty="0"/>
              <a:t>various metrics such as precision, recall, &amp; f1score</a:t>
            </a:r>
            <a:endParaRPr dirty="0"/>
          </a:p>
          <a:p>
            <a:r>
              <a:rPr dirty="0"/>
              <a:t>Fine-tune, use various combinations of features</a:t>
            </a:r>
            <a:r>
              <a:rPr lang="en-US" dirty="0"/>
              <a:t> &amp; hyperparameters</a:t>
            </a:r>
            <a:endParaRPr dirty="0"/>
          </a:p>
        </p:txBody>
      </p:sp>
      <p:sp>
        <p:nvSpPr>
          <p:cNvPr id="217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Hypothesi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= A machine learning algorithm trained on team performance metrics will predict game outcomes with accuracy significantly greater than 50%, outperforming randomly guessing.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06500" y="3168770"/>
                <a:ext cx="21971000" cy="8256012"/>
              </a:xfrm>
              <a:prstGeom prst="rect">
                <a:avLst/>
              </a:prstGeo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sz="61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sz="61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= A machine learning algorithm trained on team performance metrics will predict game outcomes with accuracy significantly greater than 50%, outperforming randomly guessing.</a:t>
                </a:r>
                <a:endParaRPr sz="1200"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endParaRPr sz="1200"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sz="5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sz="5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t> = This model does not perform significantly better than randomly guessing and does not show accuracy equal to 50%. </a:t>
                </a:r>
              </a:p>
            </p:txBody>
          </p:sp>
        </mc:Choice>
        <mc:Fallback xmlns="">
          <p:sp>
            <p:nvSpPr>
              <p:cNvPr id="220" name="= A machine learning algorithm trained on team performance metrics will predict game outcomes with accuracy significantly greater than 50%, outperforming randomly guessing.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06500" y="3168770"/>
                <a:ext cx="21971000" cy="8256012"/>
              </a:xfrm>
              <a:prstGeom prst="rect">
                <a:avLst/>
              </a:prstGeom>
              <a:blipFill>
                <a:blip r:embed="rId3"/>
                <a:stretch>
                  <a:fillRect l="-2023" t="-3533" r="-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al Tree"/>
          <p:cNvSpPr txBox="1">
            <a:spLocks noGrp="1"/>
          </p:cNvSpPr>
          <p:nvPr>
            <p:ph type="title"/>
          </p:nvPr>
        </p:nvSpPr>
        <p:spPr>
          <a:xfrm>
            <a:off x="495300" y="957364"/>
            <a:ext cx="9779000" cy="1435101"/>
          </a:xfrm>
          <a:prstGeom prst="rect">
            <a:avLst/>
          </a:prstGeom>
        </p:spPr>
        <p:txBody>
          <a:bodyPr/>
          <a:lstStyle/>
          <a:p>
            <a:r>
              <a:t>Goal Tree</a:t>
            </a:r>
          </a:p>
        </p:txBody>
      </p:sp>
      <p:sp>
        <p:nvSpPr>
          <p:cNvPr id="225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pic>
        <p:nvPicPr>
          <p:cNvPr id="5" name="Picture 4" descr="A diagram of a game&#10;&#10;AI-generated content may be incorrect.">
            <a:extLst>
              <a:ext uri="{FF2B5EF4-FFF2-40B4-BE49-F238E27FC236}">
                <a16:creationId xmlns:a16="http://schemas.microsoft.com/office/drawing/2014/main" id="{63BB631B-4208-02D2-E90E-06819F61A8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064" y="1095264"/>
            <a:ext cx="9600995" cy="1152547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olution Descrip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Solution Description</a:t>
            </a:r>
          </a:p>
        </p:txBody>
      </p:sp>
      <p:sp>
        <p:nvSpPr>
          <p:cNvPr id="228" name="Tools: Python w/ use of libraries &amp; packages, mentor assistance…"/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rPr dirty="0"/>
              <a:t>Tools: Python w/ use of libraries &amp; packages, mentor assistance</a:t>
            </a:r>
          </a:p>
          <a:p>
            <a:pPr lvl="4"/>
            <a:r>
              <a:rPr dirty="0" err="1"/>
              <a:t>nba_api</a:t>
            </a:r>
            <a:r>
              <a:rPr dirty="0"/>
              <a:t> library for historical &amp; live statistical data</a:t>
            </a:r>
          </a:p>
          <a:p>
            <a:pPr lvl="4"/>
            <a:r>
              <a:rPr dirty="0"/>
              <a:t>pandas library</a:t>
            </a:r>
            <a:r>
              <a:rPr lang="en-US" dirty="0"/>
              <a:t> &amp; NumPy</a:t>
            </a:r>
            <a:r>
              <a:rPr dirty="0"/>
              <a:t> for manipulating data</a:t>
            </a:r>
          </a:p>
          <a:p>
            <a:pPr lvl="4"/>
            <a:r>
              <a:rPr dirty="0"/>
              <a:t>Scikit-learn library for feature selection &amp; model evaluation </a:t>
            </a:r>
          </a:p>
        </p:txBody>
      </p:sp>
      <p:sp>
        <p:nvSpPr>
          <p:cNvPr id="229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7D788-A5B9-9505-827A-83A9D01E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olution Description">
            <a:extLst>
              <a:ext uri="{FF2B5EF4-FFF2-40B4-BE49-F238E27FC236}">
                <a16:creationId xmlns:a16="http://schemas.microsoft.com/office/drawing/2014/main" id="{CB4F80D6-FE87-D20C-42EC-1C738990E4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 Acquisition</a:t>
            </a:r>
            <a:endParaRPr dirty="0"/>
          </a:p>
        </p:txBody>
      </p:sp>
      <p:sp>
        <p:nvSpPr>
          <p:cNvPr id="228" name="Tools: Python w/ use of libraries &amp; packages, mentor assistance…">
            <a:extLst>
              <a:ext uri="{FF2B5EF4-FFF2-40B4-BE49-F238E27FC236}">
                <a16:creationId xmlns:a16="http://schemas.microsoft.com/office/drawing/2014/main" id="{B83C1D4A-5C74-6142-0B48-11052D781D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/>
          <a:lstStyle/>
          <a:p>
            <a:pPr>
              <a:buSzTx/>
            </a:pPr>
            <a:r>
              <a:rPr lang="en-US" dirty="0"/>
              <a:t>Used NumPy/Pandas &amp; an NBA API to create my own data set</a:t>
            </a:r>
          </a:p>
          <a:p>
            <a:pPr>
              <a:buSzTx/>
            </a:pPr>
            <a:r>
              <a:rPr lang="en-US" dirty="0"/>
              <a:t>Used data from 2012-2024</a:t>
            </a:r>
          </a:p>
          <a:p>
            <a:pPr>
              <a:buSzTx/>
            </a:pPr>
            <a:r>
              <a:rPr lang="en-US" dirty="0"/>
              <a:t>Included shortened </a:t>
            </a:r>
            <a:r>
              <a:rPr lang="en-US"/>
              <a:t>COVID seasons</a:t>
            </a:r>
            <a:endParaRPr lang="en-US" dirty="0"/>
          </a:p>
          <a:p>
            <a:pPr>
              <a:buSzTx/>
            </a:pPr>
            <a:r>
              <a:rPr lang="en-US" dirty="0"/>
              <a:t>Had to collect game info in batches due to API rate limiting</a:t>
            </a:r>
          </a:p>
          <a:p>
            <a:pPr marL="0" indent="0">
              <a:buSzTx/>
              <a:buNone/>
            </a:pPr>
            <a:endParaRPr lang="en-US" dirty="0"/>
          </a:p>
          <a:p>
            <a:pPr>
              <a:buSzTx/>
            </a:pPr>
            <a:endParaRPr dirty="0"/>
          </a:p>
        </p:txBody>
      </p:sp>
      <p:sp>
        <p:nvSpPr>
          <p:cNvPr id="229" name="Slide Number">
            <a:extLst>
              <a:ext uri="{FF2B5EF4-FFF2-40B4-BE49-F238E27FC236}">
                <a16:creationId xmlns:a16="http://schemas.microsoft.com/office/drawing/2014/main" id="{56A78F7C-0088-8C00-11EB-83885A97F574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506581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D4C06-5079-8072-B467-C57756F5B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olution Description">
            <a:extLst>
              <a:ext uri="{FF2B5EF4-FFF2-40B4-BE49-F238E27FC236}">
                <a16:creationId xmlns:a16="http://schemas.microsoft.com/office/drawing/2014/main" id="{FA2867D1-8BB0-5FDB-D5E4-CFBAD35B45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 Acquisition</a:t>
            </a:r>
            <a:endParaRPr dirty="0"/>
          </a:p>
        </p:txBody>
      </p:sp>
      <p:sp>
        <p:nvSpPr>
          <p:cNvPr id="228" name="Tools: Python w/ use of libraries &amp; packages, mentor assistance…">
            <a:extLst>
              <a:ext uri="{FF2B5EF4-FFF2-40B4-BE49-F238E27FC236}">
                <a16:creationId xmlns:a16="http://schemas.microsoft.com/office/drawing/2014/main" id="{F53A2041-B13B-9BDE-E58B-504FC1AE6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/>
          <a:lstStyle/>
          <a:p>
            <a:pPr>
              <a:buSzTx/>
            </a:pPr>
            <a:r>
              <a:rPr lang="en-US" dirty="0"/>
              <a:t>Once basic data was collected, it was mutated into advanced statistics</a:t>
            </a:r>
          </a:p>
          <a:p>
            <a:pPr>
              <a:buSzTx/>
            </a:pPr>
            <a:r>
              <a:rPr lang="en-US" dirty="0"/>
              <a:t>31,340 rows with 27 columns</a:t>
            </a:r>
          </a:p>
          <a:p>
            <a:pPr>
              <a:buSzTx/>
            </a:pPr>
            <a:r>
              <a:rPr lang="en-US" dirty="0"/>
              <a:t>Uploaded to Kaggle with MIT license &amp; 10.0 usability</a:t>
            </a:r>
          </a:p>
          <a:p>
            <a:pPr>
              <a:buSzTx/>
            </a:pPr>
            <a:endParaRPr lang="en-US" dirty="0"/>
          </a:p>
          <a:p>
            <a:pPr>
              <a:buSzTx/>
            </a:pPr>
            <a:endParaRPr lang="en-US" dirty="0"/>
          </a:p>
          <a:p>
            <a:pPr>
              <a:buSzTx/>
            </a:pPr>
            <a:endParaRPr lang="en-US" dirty="0"/>
          </a:p>
          <a:p>
            <a:pPr>
              <a:buSzTx/>
            </a:pPr>
            <a:endParaRPr dirty="0"/>
          </a:p>
        </p:txBody>
      </p:sp>
      <p:sp>
        <p:nvSpPr>
          <p:cNvPr id="229" name="Slide Number">
            <a:extLst>
              <a:ext uri="{FF2B5EF4-FFF2-40B4-BE49-F238E27FC236}">
                <a16:creationId xmlns:a16="http://schemas.microsoft.com/office/drawing/2014/main" id="{AB25BDA8-B501-0F82-8FC1-F120F02198CA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488059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08C4C1-1217-1ED3-60B1-2F361BAA3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olution Description">
            <a:extLst>
              <a:ext uri="{FF2B5EF4-FFF2-40B4-BE49-F238E27FC236}">
                <a16:creationId xmlns:a16="http://schemas.microsoft.com/office/drawing/2014/main" id="{E9B067B1-35ED-03D0-2440-FC8C51A1AA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Features Used</a:t>
            </a:r>
            <a:endParaRPr dirty="0"/>
          </a:p>
        </p:txBody>
      </p:sp>
      <p:sp>
        <p:nvSpPr>
          <p:cNvPr id="228" name="Tools: Python w/ use of libraries &amp; packages, mentor assistance…">
            <a:extLst>
              <a:ext uri="{FF2B5EF4-FFF2-40B4-BE49-F238E27FC236}">
                <a16:creationId xmlns:a16="http://schemas.microsoft.com/office/drawing/2014/main" id="{98E0FB3A-4D2E-E9BE-8D5C-C96D07813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/>
          <a:lstStyle/>
          <a:p>
            <a:pPr>
              <a:buSzTx/>
            </a:pPr>
            <a:r>
              <a:rPr lang="en-US" dirty="0"/>
              <a:t>Had to discard PIE rating &amp; PTS – caused data leakage and revealed the result</a:t>
            </a:r>
          </a:p>
          <a:p>
            <a:pPr>
              <a:buSzTx/>
            </a:pPr>
            <a:r>
              <a:rPr lang="en-US" dirty="0"/>
              <a:t>Used a rolling PIE, all games leading up to the current one</a:t>
            </a:r>
            <a:endParaRPr dirty="0"/>
          </a:p>
        </p:txBody>
      </p:sp>
      <p:sp>
        <p:nvSpPr>
          <p:cNvPr id="229" name="Slide Number">
            <a:extLst>
              <a:ext uri="{FF2B5EF4-FFF2-40B4-BE49-F238E27FC236}">
                <a16:creationId xmlns:a16="http://schemas.microsoft.com/office/drawing/2014/main" id="{CBC7DDD0-F9D6-DDC6-4D59-81952EAFA599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573817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4F85C6-C3BC-CFA1-81F8-16125662E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olution Description">
            <a:extLst>
              <a:ext uri="{FF2B5EF4-FFF2-40B4-BE49-F238E27FC236}">
                <a16:creationId xmlns:a16="http://schemas.microsoft.com/office/drawing/2014/main" id="{2FD8F99F-0430-D277-8D29-4C7B55EE7A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Hyperparameter Tuning</a:t>
            </a:r>
            <a:endParaRPr dirty="0"/>
          </a:p>
        </p:txBody>
      </p:sp>
      <p:sp>
        <p:nvSpPr>
          <p:cNvPr id="228" name="Tools: Python w/ use of libraries &amp; packages, mentor assistance…">
            <a:extLst>
              <a:ext uri="{FF2B5EF4-FFF2-40B4-BE49-F238E27FC236}">
                <a16:creationId xmlns:a16="http://schemas.microsoft.com/office/drawing/2014/main" id="{EFF43BDA-57BB-E584-0929-04619D24C9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buSzTx/>
            </a:pPr>
            <a:r>
              <a:rPr lang="en-US" dirty="0" err="1"/>
              <a:t>n_estimators</a:t>
            </a:r>
            <a:r>
              <a:rPr lang="en-US" dirty="0"/>
              <a:t> set to 1,000 – minimal difference however when set above 500</a:t>
            </a:r>
          </a:p>
          <a:p>
            <a:pPr>
              <a:buSzTx/>
            </a:pPr>
            <a:r>
              <a:rPr lang="en-US" dirty="0"/>
              <a:t>criterion = ‘</a:t>
            </a:r>
            <a:r>
              <a:rPr lang="en-US" dirty="0" err="1"/>
              <a:t>gini</a:t>
            </a:r>
            <a:r>
              <a:rPr lang="en-US" dirty="0"/>
              <a:t>’ – this uses the </a:t>
            </a:r>
            <a:r>
              <a:rPr lang="en-US" dirty="0" err="1"/>
              <a:t>gini</a:t>
            </a:r>
            <a:r>
              <a:rPr lang="en-US" dirty="0"/>
              <a:t> impurity index mention earlier</a:t>
            </a:r>
          </a:p>
          <a:p>
            <a:pPr>
              <a:buSzTx/>
            </a:pPr>
            <a:r>
              <a:rPr lang="en-US" dirty="0" err="1"/>
              <a:t>max_depth</a:t>
            </a:r>
            <a:r>
              <a:rPr lang="en-US" dirty="0"/>
              <a:t> set to none, trees grow until they are pure or until all samples are used</a:t>
            </a:r>
          </a:p>
          <a:p>
            <a:pPr>
              <a:buSzTx/>
            </a:pPr>
            <a:r>
              <a:rPr lang="en-US" dirty="0" err="1"/>
              <a:t>oob_score</a:t>
            </a:r>
            <a:r>
              <a:rPr lang="en-US" dirty="0"/>
              <a:t> &amp; bootstrapping are both set to True (I found when these are set to  True the accuracy is improved, however only slightly – leads to a more verbose model)</a:t>
            </a:r>
          </a:p>
          <a:p>
            <a:pPr>
              <a:buSzTx/>
            </a:pPr>
            <a:r>
              <a:rPr lang="en-US" dirty="0" err="1"/>
              <a:t>n_jobs</a:t>
            </a:r>
            <a:r>
              <a:rPr lang="en-US" dirty="0"/>
              <a:t> was set to -1, this utilizes all cores on the computer to speed up training</a:t>
            </a:r>
            <a:endParaRPr dirty="0"/>
          </a:p>
        </p:txBody>
      </p:sp>
      <p:sp>
        <p:nvSpPr>
          <p:cNvPr id="229" name="Slide Number">
            <a:extLst>
              <a:ext uri="{FF2B5EF4-FFF2-40B4-BE49-F238E27FC236}">
                <a16:creationId xmlns:a16="http://schemas.microsoft.com/office/drawing/2014/main" id="{E32C4139-94FA-B6EC-7D82-6BD1A17C4127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711872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sult Analysi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Result Analysis</a:t>
            </a:r>
          </a:p>
        </p:txBody>
      </p:sp>
      <p:sp>
        <p:nvSpPr>
          <p:cNvPr id="232" name="Put result info on the slides below this"/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Conducted experiments using pre-game and post-game statistics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Pre-game statistics used the statistics up-to the game being predicted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Post-game statistics used the statistics from the finished game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This was done to show the difference in prediction power – pre-game prediction is more accurate in terms of actual predictions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Used a 10/90 split for training and testing (this had the best results)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Results were measured using recall, precision, and f1-score accuracy. Added a confusion matrix plot for easier interpretation</a:t>
            </a:r>
            <a:endParaRPr dirty="0"/>
          </a:p>
        </p:txBody>
      </p:sp>
      <p:sp>
        <p:nvSpPr>
          <p:cNvPr id="233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6F4D1F-4F79-B6DB-037F-685396054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sult Analysis">
            <a:extLst>
              <a:ext uri="{FF2B5EF4-FFF2-40B4-BE49-F238E27FC236}">
                <a16:creationId xmlns:a16="http://schemas.microsoft.com/office/drawing/2014/main" id="{27F85C34-AA67-C2C8-D0D6-EF91E35C6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Result Analysis</a:t>
            </a:r>
            <a:r>
              <a:rPr lang="en-US" dirty="0"/>
              <a:t> – Measurements </a:t>
            </a:r>
            <a:endParaRPr dirty="0"/>
          </a:p>
        </p:txBody>
      </p:sp>
      <p:sp>
        <p:nvSpPr>
          <p:cNvPr id="232" name="Put result info on the slides below this">
            <a:extLst>
              <a:ext uri="{FF2B5EF4-FFF2-40B4-BE49-F238E27FC236}">
                <a16:creationId xmlns:a16="http://schemas.microsoft.com/office/drawing/2014/main" id="{E03213DC-CD6B-3A6B-BE04-09B225D1A1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Recall: true positives / true positives + false positives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Precision: true positives / true positives + true negatives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F1Score: recall * precision / recall + precision</a:t>
            </a:r>
            <a:endParaRPr dirty="0"/>
          </a:p>
        </p:txBody>
      </p:sp>
      <p:sp>
        <p:nvSpPr>
          <p:cNvPr id="233" name="Slide Number">
            <a:extLst>
              <a:ext uri="{FF2B5EF4-FFF2-40B4-BE49-F238E27FC236}">
                <a16:creationId xmlns:a16="http://schemas.microsoft.com/office/drawing/2014/main" id="{C67B8BBE-FC6F-23B6-3FFB-26629B54D9F4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740507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B1AFE3-D2B7-008F-998B-E9B45D003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sult Analysis">
            <a:extLst>
              <a:ext uri="{FF2B5EF4-FFF2-40B4-BE49-F238E27FC236}">
                <a16:creationId xmlns:a16="http://schemas.microsoft.com/office/drawing/2014/main" id="{2587BA32-84D6-8C9D-2A00-8EC402DF90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Feature Importance</a:t>
            </a:r>
            <a:endParaRPr dirty="0"/>
          </a:p>
        </p:txBody>
      </p:sp>
      <p:sp>
        <p:nvSpPr>
          <p:cNvPr id="232" name="Put result info on the slides below this">
            <a:extLst>
              <a:ext uri="{FF2B5EF4-FFF2-40B4-BE49-F238E27FC236}">
                <a16:creationId xmlns:a16="http://schemas.microsoft.com/office/drawing/2014/main" id="{92279B38-54A1-83C4-19B7-F1DDF830A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Used Mean Decrease Impurity for feature importance, shows how well a feature led to a pure split (reducing impurity). Higher MDI indicates more important features</a:t>
            </a:r>
            <a:endParaRPr dirty="0"/>
          </a:p>
        </p:txBody>
      </p:sp>
      <p:sp>
        <p:nvSpPr>
          <p:cNvPr id="233" name="Slide Number">
            <a:extLst>
              <a:ext uri="{FF2B5EF4-FFF2-40B4-BE49-F238E27FC236}">
                <a16:creationId xmlns:a16="http://schemas.microsoft.com/office/drawing/2014/main" id="{A799DC73-FC2A-A6A6-0B3A-571701E4D302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720439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B98953-C5E5-4A7A-D670-8E5815F8F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sult Analysis">
            <a:extLst>
              <a:ext uri="{FF2B5EF4-FFF2-40B4-BE49-F238E27FC236}">
                <a16:creationId xmlns:a16="http://schemas.microsoft.com/office/drawing/2014/main" id="{17DB5981-AE86-2632-9426-9094D8B641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Feature Importance – Post Game Stats</a:t>
            </a:r>
            <a:endParaRPr dirty="0"/>
          </a:p>
        </p:txBody>
      </p:sp>
      <p:sp>
        <p:nvSpPr>
          <p:cNvPr id="233" name="Slide Number">
            <a:extLst>
              <a:ext uri="{FF2B5EF4-FFF2-40B4-BE49-F238E27FC236}">
                <a16:creationId xmlns:a16="http://schemas.microsoft.com/office/drawing/2014/main" id="{150F2783-29E0-3ABF-A486-FCCA7E724F38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  <p:pic>
        <p:nvPicPr>
          <p:cNvPr id="3" name="Picture 2" descr="A graph with blue and black lines&#10;&#10;AI-generated content may be incorrect.">
            <a:extLst>
              <a:ext uri="{FF2B5EF4-FFF2-40B4-BE49-F238E27FC236}">
                <a16:creationId xmlns:a16="http://schemas.microsoft.com/office/drawing/2014/main" id="{845B6B1B-857E-91EF-78D1-A1B167FEB0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598" y="2072639"/>
            <a:ext cx="14254481" cy="106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2912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09114-629E-190B-5F7F-1E6E5ED1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sult Analysis">
            <a:extLst>
              <a:ext uri="{FF2B5EF4-FFF2-40B4-BE49-F238E27FC236}">
                <a16:creationId xmlns:a16="http://schemas.microsoft.com/office/drawing/2014/main" id="{E813819F-29EA-E6BC-0C52-4EAE414A1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Feature Importance – Pre Game Stats</a:t>
            </a:r>
            <a:endParaRPr dirty="0"/>
          </a:p>
        </p:txBody>
      </p:sp>
      <p:sp>
        <p:nvSpPr>
          <p:cNvPr id="233" name="Slide Number">
            <a:extLst>
              <a:ext uri="{FF2B5EF4-FFF2-40B4-BE49-F238E27FC236}">
                <a16:creationId xmlns:a16="http://schemas.microsoft.com/office/drawing/2014/main" id="{1DA3F3EC-EADE-FD03-62B3-D9573CB6F94B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  <p:pic>
        <p:nvPicPr>
          <p:cNvPr id="4" name="Picture 3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E73E9F05-0201-9C05-6735-8EC6B4F66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989" y="2261235"/>
            <a:ext cx="14003020" cy="1050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7547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0B04F-628A-1DFD-7104-8B0FBF322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sult Analysis">
            <a:extLst>
              <a:ext uri="{FF2B5EF4-FFF2-40B4-BE49-F238E27FC236}">
                <a16:creationId xmlns:a16="http://schemas.microsoft.com/office/drawing/2014/main" id="{8A8433F3-5351-99DF-76EC-6D60570C7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Result Analysis</a:t>
            </a:r>
            <a:r>
              <a:rPr lang="en-US" dirty="0"/>
              <a:t> – Post Game Stats</a:t>
            </a:r>
            <a:endParaRPr dirty="0"/>
          </a:p>
        </p:txBody>
      </p:sp>
      <p:sp>
        <p:nvSpPr>
          <p:cNvPr id="232" name="Put result info on the slides below this">
            <a:extLst>
              <a:ext uri="{FF2B5EF4-FFF2-40B4-BE49-F238E27FC236}">
                <a16:creationId xmlns:a16="http://schemas.microsoft.com/office/drawing/2014/main" id="{E2368570-0C01-EF9B-5AD8-3E43D3E680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Model consistently scored 80-85% accuracy using post-game statistics</a:t>
            </a:r>
            <a:endParaRPr dirty="0"/>
          </a:p>
        </p:txBody>
      </p:sp>
      <p:sp>
        <p:nvSpPr>
          <p:cNvPr id="233" name="Slide Number">
            <a:extLst>
              <a:ext uri="{FF2B5EF4-FFF2-40B4-BE49-F238E27FC236}">
                <a16:creationId xmlns:a16="http://schemas.microsoft.com/office/drawing/2014/main" id="{04D56871-B2C5-8DDC-90F5-707487437100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846799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097C4-D1D9-0766-5C9D-0B44F4953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sult Analysis">
            <a:extLst>
              <a:ext uri="{FF2B5EF4-FFF2-40B4-BE49-F238E27FC236}">
                <a16:creationId xmlns:a16="http://schemas.microsoft.com/office/drawing/2014/main" id="{14344567-2F2F-FF95-DD02-2D565837E6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Result Analysis</a:t>
            </a:r>
            <a:r>
              <a:rPr lang="en-US" dirty="0"/>
              <a:t> – Post Game Stats</a:t>
            </a:r>
            <a:endParaRPr dirty="0"/>
          </a:p>
        </p:txBody>
      </p:sp>
      <p:sp>
        <p:nvSpPr>
          <p:cNvPr id="233" name="Slide Number">
            <a:extLst>
              <a:ext uri="{FF2B5EF4-FFF2-40B4-BE49-F238E27FC236}">
                <a16:creationId xmlns:a16="http://schemas.microsoft.com/office/drawing/2014/main" id="{4D09EFAB-B5E8-00AC-00F8-E3E8B11BE83E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5F39A2-12C6-EF79-8CE2-38B334EB8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40" y="7949894"/>
            <a:ext cx="11617960" cy="4154476"/>
          </a:xfrm>
          <a:prstGeom prst="rect">
            <a:avLst/>
          </a:prstGeom>
        </p:spPr>
      </p:pic>
      <p:pic>
        <p:nvPicPr>
          <p:cNvPr id="9" name="Picture 8" descr="A yellow and purple squares with numbers and a green line&#10;&#10;AI-generated content may be incorrect.">
            <a:extLst>
              <a:ext uri="{FF2B5EF4-FFF2-40B4-BE49-F238E27FC236}">
                <a16:creationId xmlns:a16="http://schemas.microsoft.com/office/drawing/2014/main" id="{B851164A-AE59-24F3-2E9B-3A45EED780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0004" y="3013954"/>
            <a:ext cx="10991749" cy="824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368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E1DEA-C40B-F532-8DF8-3818B4B0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sult Analysis">
            <a:extLst>
              <a:ext uri="{FF2B5EF4-FFF2-40B4-BE49-F238E27FC236}">
                <a16:creationId xmlns:a16="http://schemas.microsoft.com/office/drawing/2014/main" id="{A75E67F1-979C-3044-6233-EFE481D1A3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Result Analysis</a:t>
            </a:r>
            <a:r>
              <a:rPr lang="en-US" dirty="0"/>
              <a:t> – Pre Game Stats</a:t>
            </a:r>
            <a:endParaRPr dirty="0"/>
          </a:p>
        </p:txBody>
      </p:sp>
      <p:sp>
        <p:nvSpPr>
          <p:cNvPr id="232" name="Put result info on the slides below this">
            <a:extLst>
              <a:ext uri="{FF2B5EF4-FFF2-40B4-BE49-F238E27FC236}">
                <a16:creationId xmlns:a16="http://schemas.microsoft.com/office/drawing/2014/main" id="{BB38103A-3D88-A28A-15FE-C85622F708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Model scored 58.1% accuracy using pre-game statistics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Based on research – this is a slightly above average prediction rating</a:t>
            </a:r>
            <a:endParaRPr dirty="0"/>
          </a:p>
        </p:txBody>
      </p:sp>
      <p:sp>
        <p:nvSpPr>
          <p:cNvPr id="233" name="Slide Number">
            <a:extLst>
              <a:ext uri="{FF2B5EF4-FFF2-40B4-BE49-F238E27FC236}">
                <a16:creationId xmlns:a16="http://schemas.microsoft.com/office/drawing/2014/main" id="{8E481B84-448B-B9CB-3784-622CA4A30A33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6713476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650BE-9B38-61E5-A0A9-EE577A5B1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sult Analysis">
            <a:extLst>
              <a:ext uri="{FF2B5EF4-FFF2-40B4-BE49-F238E27FC236}">
                <a16:creationId xmlns:a16="http://schemas.microsoft.com/office/drawing/2014/main" id="{7B97C573-07D5-C7C7-1B7A-C11E45D1C3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Result Analysis</a:t>
            </a:r>
            <a:r>
              <a:rPr lang="en-US" dirty="0"/>
              <a:t> – Pre Game Stats</a:t>
            </a:r>
            <a:endParaRPr dirty="0"/>
          </a:p>
        </p:txBody>
      </p:sp>
      <p:sp>
        <p:nvSpPr>
          <p:cNvPr id="233" name="Slide Number">
            <a:extLst>
              <a:ext uri="{FF2B5EF4-FFF2-40B4-BE49-F238E27FC236}">
                <a16:creationId xmlns:a16="http://schemas.microsoft.com/office/drawing/2014/main" id="{0DE7B12F-47FB-2BCB-97B9-4F7C1F99B6FB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B0440E-83FB-FF15-98B0-DF51BBBB7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46" y="7961817"/>
            <a:ext cx="11744754" cy="4485365"/>
          </a:xfrm>
          <a:prstGeom prst="rect">
            <a:avLst/>
          </a:prstGeom>
        </p:spPr>
      </p:pic>
      <p:pic>
        <p:nvPicPr>
          <p:cNvPr id="5" name="Picture 4" descr="A colorful squares with numbers and labels&#10;&#10;AI-generated content may be incorrect.">
            <a:extLst>
              <a:ext uri="{FF2B5EF4-FFF2-40B4-BE49-F238E27FC236}">
                <a16:creationId xmlns:a16="http://schemas.microsoft.com/office/drawing/2014/main" id="{FB67B894-60E1-5B06-CC3E-65536CC33B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2" y="2797143"/>
            <a:ext cx="11352192" cy="851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46881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2F0F2-C127-FE0B-5A32-0A2BF2FFE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sult Analysis">
            <a:extLst>
              <a:ext uri="{FF2B5EF4-FFF2-40B4-BE49-F238E27FC236}">
                <a16:creationId xmlns:a16="http://schemas.microsoft.com/office/drawing/2014/main" id="{24237927-31A7-DB5E-3439-5A7FAEFFC5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Future Work</a:t>
            </a:r>
            <a:endParaRPr dirty="0"/>
          </a:p>
        </p:txBody>
      </p:sp>
      <p:sp>
        <p:nvSpPr>
          <p:cNvPr id="232" name="Put result info on the slides below this">
            <a:extLst>
              <a:ext uri="{FF2B5EF4-FFF2-40B4-BE49-F238E27FC236}">
                <a16:creationId xmlns:a16="http://schemas.microsoft.com/office/drawing/2014/main" id="{D4539DA3-7F6D-73B4-2F09-2A8856D967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Connect model to live games using NBA API to make current + future predictions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Utilize a different ML model (</a:t>
            </a:r>
            <a:r>
              <a:rPr lang="en-US" dirty="0" err="1"/>
              <a:t>XGBoost</a:t>
            </a:r>
            <a:r>
              <a:rPr lang="en-US" dirty="0"/>
              <a:t>) to analyze result differences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Make into a website, monetize?</a:t>
            </a:r>
            <a:endParaRPr dirty="0"/>
          </a:p>
        </p:txBody>
      </p:sp>
      <p:sp>
        <p:nvSpPr>
          <p:cNvPr id="233" name="Slide Number">
            <a:extLst>
              <a:ext uri="{FF2B5EF4-FFF2-40B4-BE49-F238E27FC236}">
                <a16:creationId xmlns:a16="http://schemas.microsoft.com/office/drawing/2014/main" id="{3957D850-4E56-E066-429D-94238A282FC4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522569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9B63F-91F4-3A7D-E723-F1303B0B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sult Analysis">
            <a:extLst>
              <a:ext uri="{FF2B5EF4-FFF2-40B4-BE49-F238E27FC236}">
                <a16:creationId xmlns:a16="http://schemas.microsoft.com/office/drawing/2014/main" id="{529E612D-D813-9B86-CE04-EBA48EC506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Wrap Up</a:t>
            </a:r>
            <a:endParaRPr dirty="0"/>
          </a:p>
        </p:txBody>
      </p:sp>
      <p:sp>
        <p:nvSpPr>
          <p:cNvPr id="232" name="Put result info on the slides below this">
            <a:extLst>
              <a:ext uri="{FF2B5EF4-FFF2-40B4-BE49-F238E27FC236}">
                <a16:creationId xmlns:a16="http://schemas.microsoft.com/office/drawing/2014/main" id="{3D727802-B0E1-0BD1-7379-181AD99987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500" y="3168770"/>
            <a:ext cx="21971000" cy="8256012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Turns out, it’s hard to predict future results in the NBA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Very happy with my outcome, almost hit my primary objective of 60% accuracy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Gained a lot of experience using Pandas and ML models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This project helped me land a job at IBM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Received over 900 downloads on Kaggle within two weeks, very cool to see other people use my dataset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33" name="Slide Number">
            <a:extLst>
              <a:ext uri="{FF2B5EF4-FFF2-40B4-BE49-F238E27FC236}">
                <a16:creationId xmlns:a16="http://schemas.microsoft.com/office/drawing/2014/main" id="{238A81C8-C2EB-9788-5080-E9552BCAA0AD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244655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hanks!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Thanks!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Extra Slides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Extra Slides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raining Models on Featu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Training Models on Features</a:t>
            </a:r>
          </a:p>
        </p:txBody>
      </p:sp>
      <p:sp>
        <p:nvSpPr>
          <p:cNvPr id="240" name="k-fold cross validation…"/>
          <p:cNvSpPr txBox="1">
            <a:spLocks noGrp="1"/>
          </p:cNvSpPr>
          <p:nvPr>
            <p:ph type="body" idx="1"/>
          </p:nvPr>
        </p:nvSpPr>
        <p:spPr>
          <a:xfrm>
            <a:off x="1206500" y="3180773"/>
            <a:ext cx="21971000" cy="8256012"/>
          </a:xfrm>
          <a:prstGeom prst="rect">
            <a:avLst/>
          </a:prstGeom>
        </p:spPr>
        <p:txBody>
          <a:bodyPr/>
          <a:lstStyle/>
          <a:p>
            <a:pPr marL="469391" indent="-469391" defTabSz="1877520">
              <a:spcBef>
                <a:spcPts val="3400"/>
              </a:spcBef>
              <a:defRPr sz="3696"/>
            </a:pPr>
            <a:r>
              <a:t>k-fold cross validation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k-1 folds for training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1 fold used for testing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Training on 90% &amp; testing on 10%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Given, [0.1, 0.2, 0.3, 0.4, 0.5, 0.6]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Fold1: [0.5, 0.2]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Fold2: [0.1, 0.3]</a:t>
            </a:r>
            <a:endParaRPr>
              <a:solidFill>
                <a:srgbClr val="000000"/>
              </a:solidFill>
            </a:endParaRP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Fold3: [0.4, 0.6]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Model1: trained on fold 1 &amp; fold 2 — tested on fold 3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35</a:t>
            </a:fld>
            <a:endParaRPr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andom Forest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Random Forest Classifier</a:t>
            </a:r>
          </a:p>
        </p:txBody>
      </p:sp>
      <p:sp>
        <p:nvSpPr>
          <p:cNvPr id="198" name="OOB Validation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OOB Validation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Say tree 6, 9, and 12 did not use sample #23, this is our OOB for these tree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Say tree 6, 9, and 12 did not use sample #23, this is our OOB for these trees</a:t>
                </a:r>
              </a:p>
              <a:p>
                <a:r>
                  <a:rPr dirty="0"/>
                  <a:t>After forest training, gather tree’s predictions based on OOB sample</a:t>
                </a:r>
              </a:p>
              <a:p>
                <a:r>
                  <a:rPr dirty="0"/>
                  <a:t>Compare OOB results to true class label</a:t>
                </a:r>
              </a:p>
              <a:p>
                <a:r>
                  <a:rPr dirty="0"/>
                  <a:t>Compute error score: </a:t>
                </a:r>
                <a14:m>
                  <m:oMath xmlns:m="http://schemas.openxmlformats.org/officeDocument/2006/math">
                    <m:r>
                      <a:rPr sz="5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𝑒𝑟𝑟𝑜𝑟𝑅𝑎𝑡𝑒</m:t>
                    </m:r>
                    <m:r>
                      <a:rPr sz="5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a:rPr sz="5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𝑂𝑂𝐵𝐴𝑐𝑐𝑢𝑟𝑎𝑐𝑦</m:t>
                    </m:r>
                  </m:oMath>
                </a14:m>
                <a:endParaRPr dirty="0"/>
              </a:p>
              <a:p>
                <a:r>
                  <a:rPr dirty="0"/>
                  <a:t>Output is </a:t>
                </a:r>
                <a:r>
                  <a:rPr dirty="0" err="1">
                    <a:latin typeface="Courier New"/>
                    <a:ea typeface="Courier New"/>
                    <a:cs typeface="Courier New"/>
                    <a:sym typeface="Courier New"/>
                  </a:rPr>
                  <a:t>model.oob_score</a:t>
                </a:r>
                <a:r>
                  <a:rPr dirty="0"/>
                  <a:t> &amp; gives the accuracy rating.</a:t>
                </a:r>
              </a:p>
            </p:txBody>
          </p:sp>
        </mc:Choice>
        <mc:Fallback xmlns="">
          <p:sp>
            <p:nvSpPr>
              <p:cNvPr id="199" name="Say tree 6, 9, and 12 did not use sample #23, this is our OOB for these tree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1792" t="-4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36</a:t>
            </a:fld>
            <a:endParaRPr/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andom Forest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Random Forest Classifier</a:t>
            </a:r>
          </a:p>
        </p:txBody>
      </p:sp>
      <p:sp>
        <p:nvSpPr>
          <p:cNvPr id="244" name="Gini Impurity Information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Gini Impurity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Gini Impurity Equation, same for parent &amp; child nodes     where C = total number of classes (2) &amp;   = proportion of number of samples belonging to class   at that node.   .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579119" indent="-579119" defTabSz="2316421">
                  <a:spcBef>
                    <a:spcPts val="4200"/>
                  </a:spcBef>
                  <a:defRPr sz="4560"/>
                </a:pPr>
                <a:r>
                  <a:t>Gini Impurity Equation, same for parent &amp; child nodes </a:t>
                </a:r>
                <a14:m>
                  <m:oMath xmlns:m="http://schemas.openxmlformats.org/officeDocument/2006/math">
                    <m:r>
                      <a:rPr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limUpp>
                      <m:limUppPr>
                        <m:ctrlPr>
                          <a:rPr sz="55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555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555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555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555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55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lim>
                    </m:limUpp>
                    <m:sSubSup>
                      <m:sSubSupPr>
                        <m:ctrlPr>
                          <a:rPr sz="55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55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sz="55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sz="55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t>   where C = total number of classes (2)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0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sz="50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t> = proportion of number of samples belonging to class </a:t>
                </a:r>
                <a14:m>
                  <m:oMath xmlns:m="http://schemas.openxmlformats.org/officeDocument/2006/math">
                    <m:r>
                      <a:rPr sz="71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t> at that node.  </a:t>
                </a:r>
                <a14:m>
                  <m:oMath xmlns:m="http://schemas.openxmlformats.org/officeDocument/2006/math">
                    <m:r>
                      <a:rPr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𝑤𝑖𝑛</m:t>
                    </m:r>
                    <m:r>
                      <a:rPr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𝑙𝑜𝑠𝑒</m:t>
                    </m:r>
                  </m:oMath>
                </a14:m>
                <a:r>
                  <a:t>.</a:t>
                </a:r>
              </a:p>
              <a:p>
                <a:pPr marL="579119" indent="-579119" defTabSz="2316421">
                  <a:spcBef>
                    <a:spcPts val="4200"/>
                  </a:spcBef>
                  <a:defRPr sz="4560"/>
                </a:pPr>
                <a:r>
                  <a:t>Calculate parent node impurity, this will be used later when deciding splits</a:t>
                </a:r>
              </a:p>
              <a:p>
                <a:pPr marL="579119" indent="-579119" defTabSz="2316421">
                  <a:spcBef>
                    <a:spcPts val="4200"/>
                  </a:spcBef>
                  <a:defRPr sz="4560"/>
                </a:pPr>
                <a:r>
                  <a:t>After parent node calculated, find thresholds in the randomly chosen feature values</a:t>
                </a:r>
              </a:p>
              <a:p>
                <a:pPr marL="579119" indent="-579119" defTabSz="2316421">
                  <a:spcBef>
                    <a:spcPts val="4200"/>
                  </a:spcBef>
                  <a:defRPr sz="4560"/>
                </a:pPr>
                <a:r>
                  <a:t>Then, find the Gini of the left &amp; right group(s), split to which side had the lowest Gini (highest Gain)</a:t>
                </a:r>
              </a:p>
            </p:txBody>
          </p:sp>
        </mc:Choice>
        <mc:Fallback xmlns="">
          <p:sp>
            <p:nvSpPr>
              <p:cNvPr id="245" name="Gini Impurity Equation, same for parent &amp; child nodes     where C = total number of classes (2) &amp;   = proportion of number of samples belonging to class   at that node.   .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1676" t="-614" r="-1272" b="-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37</a:t>
            </a:fld>
            <a:endParaRPr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andom Forest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Random Forest Classifier</a:t>
            </a:r>
          </a:p>
        </p:txBody>
      </p:sp>
      <p:sp>
        <p:nvSpPr>
          <p:cNvPr id="249" name="Gini Impurity — Examp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Gini Impurity —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Given FG% feature as our random subset, values are: [.45, .43, .47, .41, .49]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536447" indent="-536447" defTabSz="2145738">
                  <a:spcBef>
                    <a:spcPts val="3900"/>
                  </a:spcBef>
                  <a:defRPr sz="4224"/>
                </a:pPr>
                <a:r>
                  <a:t>Given FG% feature as our random subset, values are:</a:t>
                </a:r>
                <a:br/>
                <a:r>
                  <a:t>[.45, .43, .47, .41, .49]</a:t>
                </a:r>
              </a:p>
              <a:p>
                <a:pPr marL="536447" indent="-536447" defTabSz="2145738">
                  <a:spcBef>
                    <a:spcPts val="3900"/>
                  </a:spcBef>
                  <a:defRPr sz="4224"/>
                </a:pPr>
                <a:r>
                  <a:t>With the corresponding class label as: [W, L, W, L, W]</a:t>
                </a:r>
              </a:p>
              <a:p>
                <a:pPr marL="536447" indent="-536447" defTabSz="2145738">
                  <a:spcBef>
                    <a:spcPts val="3900"/>
                  </a:spcBef>
                  <a:defRPr sz="4224"/>
                </a:pPr>
                <a:r>
                  <a:t>Find parent impurity:</a:t>
                </a:r>
              </a:p>
              <a:p>
                <a:pPr marL="1609344" lvl="2" indent="-536447" defTabSz="2145738">
                  <a:spcBef>
                    <a:spcPts val="3900"/>
                  </a:spcBef>
                  <a:defRPr sz="4224"/>
                </a:pPr>
                <a14:m>
                  <m:oMath xmlns:m="http://schemas.openxmlformats.org/officeDocument/2006/math">
                    <m:r>
                      <a:rPr sz="50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sz="50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0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𝑊𝑖𝑛</m:t>
                    </m:r>
                    <m:r>
                      <a:rPr sz="50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50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50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sz="50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sz="50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t>,   </a:t>
                </a:r>
                <a14:m>
                  <m:oMath xmlns:m="http://schemas.openxmlformats.org/officeDocument/2006/math">
                    <m:r>
                      <a:rPr sz="50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sz="50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0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𝐿𝑜𝑠𝑒</m:t>
                    </m:r>
                    <m:r>
                      <a:rPr sz="50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50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50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sz="50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sz="50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endParaRPr/>
              </a:p>
              <a:p>
                <a:pPr marL="1609344" lvl="2" indent="-536447" defTabSz="2145738">
                  <a:spcBef>
                    <a:spcPts val="3900"/>
                  </a:spcBef>
                  <a:defRPr sz="4224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51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1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sz="51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𝑝𝑎𝑟𝑒𝑛𝑡</m:t>
                        </m:r>
                      </m:sub>
                    </m:sSub>
                    <m:r>
                      <a:rPr sz="51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=1−(0.6</m:t>
                    </m:r>
                    <m:sSup>
                      <m:sSupPr>
                        <m:ctrlPr>
                          <a:rPr sz="51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1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51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51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−(0.4</m:t>
                    </m:r>
                    <m:sSup>
                      <m:sSupPr>
                        <m:ctrlPr>
                          <a:rPr sz="51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1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51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51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=1−.36−.16=.48</m:t>
                    </m:r>
                  </m:oMath>
                </a14:m>
                <a:endParaRPr/>
              </a:p>
              <a:p>
                <a:pPr marL="536447" indent="-536447" defTabSz="2145738">
                  <a:spcBef>
                    <a:spcPts val="3900"/>
                  </a:spcBef>
                  <a:defRPr sz="4224"/>
                </a:pPr>
                <a:r>
                  <a:t>Now sort feature values, find possible thresholds, typically midway points BETWEEN values</a:t>
                </a:r>
              </a:p>
            </p:txBody>
          </p:sp>
        </mc:Choice>
        <mc:Fallback xmlns="">
          <p:sp>
            <p:nvSpPr>
              <p:cNvPr id="250" name="Given FG% feature as our random subset, values are: [.45, .43, .47, .41, .49]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1561" t="-3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38</a:t>
            </a:fld>
            <a:endParaRPr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andom Forest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Random Forest Classifier</a:t>
            </a:r>
          </a:p>
        </p:txBody>
      </p:sp>
      <p:sp>
        <p:nvSpPr>
          <p:cNvPr id="254" name="Gini Impurity — Example Continued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Gini Impurity — Example Continued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Sorted FG% = [.41, .43, .45, .47, .49]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06500" y="4002864"/>
                <a:ext cx="21971000" cy="8256012"/>
              </a:xfrm>
              <a:prstGeom prst="rect">
                <a:avLst/>
              </a:prstGeom>
            </p:spPr>
            <p:txBody>
              <a:bodyPr/>
              <a:lstStyle/>
              <a:p>
                <a:pPr marL="445008" indent="-445008" defTabSz="1779987">
                  <a:spcBef>
                    <a:spcPts val="3200"/>
                  </a:spcBef>
                  <a:defRPr sz="3504"/>
                </a:pPr>
                <a:r>
                  <a:t>Sorted FG% = [.41, .43, .45, .47, .49]</a:t>
                </a:r>
              </a:p>
              <a:p>
                <a:pPr marL="445008" indent="-445008" defTabSz="1779987">
                  <a:spcBef>
                    <a:spcPts val="3200"/>
                  </a:spcBef>
                  <a:defRPr sz="3504"/>
                </a:pPr>
                <a:r>
                  <a:t>Possibilities: FG% —&gt; .42, .44, .48</a:t>
                </a:r>
              </a:p>
              <a:p>
                <a:pPr marL="445008" indent="-445008" defTabSz="1779987">
                  <a:spcBef>
                    <a:spcPts val="3200"/>
                  </a:spcBef>
                  <a:defRPr sz="3504"/>
                </a:pPr>
                <a:r>
                  <a:t>FG% for .44 threshold, Left = ≤ .44 (Index 0 &amp; 1, .41 &amp; .43), Right = &gt; .44 (.45, .47, &amp; .49)</a:t>
                </a:r>
              </a:p>
              <a:p>
                <a:pPr marL="445008" indent="-445008" defTabSz="1779987">
                  <a:spcBef>
                    <a:spcPts val="3200"/>
                  </a:spcBef>
                  <a:defRPr sz="3504"/>
                </a:pPr>
                <a:r>
                  <a:t>Calculate Gini =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sz="42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∗0+</m:t>
                    </m:r>
                    <m:f>
                      <m:fPr>
                        <m:ctrlP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sz="42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∗0=0</m:t>
                    </m:r>
                  </m:oMath>
                </a14:m>
                <a:r>
                  <a:t> (pure split)</a:t>
                </a:r>
              </a:p>
              <a:p>
                <a:pPr marL="445008" indent="-445008" defTabSz="1779987">
                  <a:spcBef>
                    <a:spcPts val="3200"/>
                  </a:spcBef>
                  <a:defRPr sz="3504"/>
                </a:pPr>
                <a:r>
                  <a:t>A .48 threshold would be L = [.41, .43, .45, .47], C = [L, L, W, W] , R = [.49], C = [W]</a:t>
                </a:r>
              </a:p>
              <a:p>
                <a:pPr marL="445008" indent="-445008" defTabSz="1779987">
                  <a:spcBef>
                    <a:spcPts val="3200"/>
                  </a:spcBef>
                  <a:defRPr sz="3504"/>
                </a:pPr>
                <a:r>
                  <a:t>G for threshold </a:t>
                </a:r>
                <a14:m>
                  <m:oMath xmlns:m="http://schemas.openxmlformats.org/officeDocument/2006/math">
                    <m:r>
                      <a:rPr sz="42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.48=</m:t>
                    </m:r>
                    <m:f>
                      <m:fPr>
                        <m:ctrlP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sz="42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∗0.5+</m:t>
                    </m:r>
                    <m:f>
                      <m:fPr>
                        <m:ctrlP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sz="42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∗0=0.4</m:t>
                    </m:r>
                  </m:oMath>
                </a14:m>
                <a:r>
                  <a:t>—&gt; worse split than .44 threshold</a:t>
                </a:r>
              </a:p>
              <a:p>
                <a:pPr marL="445008" indent="-445008" defTabSz="1779987">
                  <a:spcBef>
                    <a:spcPts val="3200"/>
                  </a:spcBef>
                  <a:defRPr sz="3504"/>
                </a:pPr>
                <a:r>
                  <a:t>Now, find Gain and split on highest gain (lowest Gini)</a:t>
                </a:r>
              </a:p>
              <a:p>
                <a:pPr marL="445008" indent="-445008" defTabSz="1779987">
                  <a:spcBef>
                    <a:spcPts val="3200"/>
                  </a:spcBef>
                  <a:defRPr sz="3504"/>
                </a:pPr>
                <a14:m>
                  <m:oMath xmlns:m="http://schemas.openxmlformats.org/officeDocument/2006/math">
                    <m:r>
                      <a:rPr sz="42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𝐺𝑎𝑖𝑛</m:t>
                    </m:r>
                    <m:r>
                      <a:rPr sz="42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𝑝𝑎𝑟𝑒𝑛𝑡</m:t>
                        </m:r>
                      </m:sub>
                    </m:sSub>
                    <m:r>
                      <a:rPr sz="42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sz="42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𝑠𝑝𝑙𝑖𝑡</m:t>
                        </m:r>
                      </m:sub>
                    </m:sSub>
                  </m:oMath>
                </a14:m>
                <a:endParaRPr sz="4800"/>
              </a:p>
            </p:txBody>
          </p:sp>
        </mc:Choice>
        <mc:Fallback xmlns="">
          <p:sp>
            <p:nvSpPr>
              <p:cNvPr id="255" name="Sorted FG% = [.41, .43, .45, .47, .49]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06500" y="4002864"/>
                <a:ext cx="21971000" cy="8256012"/>
              </a:xfrm>
              <a:prstGeom prst="rect">
                <a:avLst/>
              </a:prstGeom>
              <a:blipFill>
                <a:blip r:embed="rId3"/>
                <a:stretch>
                  <a:fillRect l="-1329" t="-3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39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2_DynamicDark">
  <a:themeElements>
    <a:clrScheme name="32_DynamicDark">
      <a:dk1>
        <a:srgbClr val="BE00FF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2_DynamicDar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2_Dynamic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2_DynamicDark">
  <a:themeElements>
    <a:clrScheme name="32_DynamicDar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2_DynamicDar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2_Dynamic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7804</TotalTime>
  <Words>1962</Words>
  <Application>Microsoft Macintosh PowerPoint</Application>
  <PresentationFormat>Custom</PresentationFormat>
  <Paragraphs>228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Arial</vt:lpstr>
      <vt:lpstr>Cambria Math</vt:lpstr>
      <vt:lpstr>Courier New</vt:lpstr>
      <vt:lpstr>Helvetica Neue</vt:lpstr>
      <vt:lpstr>Helvetica Neue Light</vt:lpstr>
      <vt:lpstr>Helvetica Neue Medium</vt:lpstr>
      <vt:lpstr>Helvetica Neue Thin</vt:lpstr>
      <vt:lpstr>Times Roman</vt:lpstr>
      <vt:lpstr>32_DynamicDark</vt:lpstr>
      <vt:lpstr>Predicting NBA Game Outcomes</vt:lpstr>
      <vt:lpstr>Problem Description</vt:lpstr>
      <vt:lpstr>Topics to Discuss</vt:lpstr>
      <vt:lpstr>NBA Statistics — Feature Selection</vt:lpstr>
      <vt:lpstr>NBA Statistics — Feature Selection</vt:lpstr>
      <vt:lpstr>NBA Statistics — Feature Selection</vt:lpstr>
      <vt:lpstr>Supervised Machine Learning</vt:lpstr>
      <vt:lpstr>Algorithms</vt:lpstr>
      <vt:lpstr>Random Forest Classifier</vt:lpstr>
      <vt:lpstr>Random Forest Classifier</vt:lpstr>
      <vt:lpstr>Random Forest Classifier</vt:lpstr>
      <vt:lpstr>Primary Objective</vt:lpstr>
      <vt:lpstr>Experiment Block Design </vt:lpstr>
      <vt:lpstr>Experiment Design</vt:lpstr>
      <vt:lpstr>Hypothesis</vt:lpstr>
      <vt:lpstr>Goal Tree</vt:lpstr>
      <vt:lpstr>Solution Description</vt:lpstr>
      <vt:lpstr>Data Acquisition</vt:lpstr>
      <vt:lpstr>Data Acquisition</vt:lpstr>
      <vt:lpstr>Features Used</vt:lpstr>
      <vt:lpstr>Hyperparameter Tuning</vt:lpstr>
      <vt:lpstr>Result Analysis</vt:lpstr>
      <vt:lpstr>Result Analysis – Measurements </vt:lpstr>
      <vt:lpstr>Feature Importance</vt:lpstr>
      <vt:lpstr>Feature Importance – Post Game Stats</vt:lpstr>
      <vt:lpstr>Feature Importance – Pre Game Stats</vt:lpstr>
      <vt:lpstr>Result Analysis – Post Game Stats</vt:lpstr>
      <vt:lpstr>Result Analysis – Post Game Stats</vt:lpstr>
      <vt:lpstr>Result Analysis – Pre Game Stats</vt:lpstr>
      <vt:lpstr>Result Analysis – Pre Game Stats</vt:lpstr>
      <vt:lpstr>Future Work</vt:lpstr>
      <vt:lpstr>Wrap Up</vt:lpstr>
      <vt:lpstr>PowerPoint Presentation</vt:lpstr>
      <vt:lpstr>PowerPoint Presentation</vt:lpstr>
      <vt:lpstr>Training Models on Features</vt:lpstr>
      <vt:lpstr>Random Forest Classifier</vt:lpstr>
      <vt:lpstr>Random Forest Classifier</vt:lpstr>
      <vt:lpstr>Random Forest Classifier</vt:lpstr>
      <vt:lpstr>Random Forest Classifier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Pickelman, Kevin</cp:lastModifiedBy>
  <cp:revision>25</cp:revision>
  <dcterms:modified xsi:type="dcterms:W3CDTF">2025-12-03T13:57:11Z</dcterms:modified>
</cp:coreProperties>
</file>